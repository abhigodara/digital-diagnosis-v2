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05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dhivyeshrk/diseases-and-symptoms-datas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dbmi.columbia.edu/~friedma/Projects/DiseaseSymptomKB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dbmi.columbia.edu/~friedma/Projects/DiseaseSymptomKB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dhivyeshrk/diseases-and-symptoms-dataset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-274320"/>
            <a:ext cx="3200400" cy="2286000"/>
          </a:xfrm>
          <a:prstGeom prst="ellipse">
            <a:avLst/>
          </a:prstGeom>
          <a:solidFill>
            <a:srgbClr val="D6E4F0">
              <a:alpha val="70000"/>
            </a:srgbClr>
          </a:solidFill>
          <a:ln w="12700">
            <a:solidFill>
              <a:srgbClr val="D6E4F0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474720"/>
            <a:ext cx="2743200" cy="2011680"/>
          </a:xfrm>
          <a:prstGeom prst="ellipse">
            <a:avLst/>
          </a:prstGeom>
          <a:solidFill>
            <a:srgbClr val="F5F0EB">
              <a:alpha val="80000"/>
            </a:srgbClr>
          </a:solidFill>
          <a:ln w="12700">
            <a:solidFill>
              <a:srgbClr val="F5F0EB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Diagnosis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Symptom-Based Disease Diagnosis System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and Large Language Models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 – Dr. Milind </a:t>
            </a:r>
            <a:r>
              <a:rPr lang="en-US" sz="12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Penurkar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- 30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Yashwant Chauhan (BT23CSA042)</a:t>
            </a:r>
          </a:p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 Swami(BT23CSA016)</a:t>
            </a:r>
          </a:p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Godara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(BT23CSA007)</a:t>
            </a:r>
          </a:p>
          <a:p>
            <a:pPr marL="0" indent="0" algn="ctr">
              <a:buNone/>
            </a:pPr>
            <a:endParaRPr lang="en-US" sz="125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91440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Objectives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Binary Symptom Dataset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Text-Based Clinical Dataset (Columbia KB)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&amp; Advisory System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Part 1: Input Processing &amp; Symptom Parsing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Part 2: Classification &amp; Response Generation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EEF4FB"/>
          </a:solidFill>
          <a:ln w="12700">
            <a:solidFill>
              <a:srgbClr val="C5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68680"/>
            <a:ext cx="2743200" cy="47548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86868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ML offer automated symptom analysis solutions.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use structured checklists, not natural language.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open-source system combines LLM parsing + ML + clinical KB.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EEF4FB"/>
          </a:solidFill>
          <a:ln w="12700">
            <a:solidFill>
              <a:srgbClr val="C5D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868680"/>
            <a:ext cx="2743200" cy="47548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86868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4173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cannot explain findings in plain language.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datasets lacking real clinical patterns.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patient-friendly advisory output alongside predictions.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symptom detection and natural language generation.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EEF4FB"/>
          </a:solidFill>
          <a:ln w="12700">
            <a:solidFill>
              <a:srgbClr val="C5D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868680"/>
            <a:ext cx="2743200" cy="47548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86868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Project's Aim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4173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free-text symptoms via a Streamlit UI.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LightGBM on 220K+ samples, 361 disease classes.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clinical KB for actionable medical advice.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empathetic summaries via Llama 3.3-70B (Groq).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200400"/>
            <a:ext cx="2743200" cy="2103120"/>
          </a:xfrm>
          <a:prstGeom prst="ellipse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D6E4F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diagnosis systems identify classes but cannot explain their findings in plain language.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benefit from natural-language explanations of potential conditions.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public datasets are synthetically generated — patterns don't match real clinical distributions.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open-source system integrates LLM parsing, ML classification, a clinical knowledge base, and LLM summarization in one pipeline.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0" cy="3931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free-text symptom descriptions using an LLM and map them to a structured symptom vocabulary.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LightGBM classifier on binary symptom vectors from 220K+ clinical samples.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advice.json knowledge base to return actionable medical guidance alongside predictions.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patient-friendly, empathetic summaries using an LLM with strict medical safety guidelines.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Binary ML path vs. transformer-based NLP path and evaluate ensemble of both.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 — Binary Symptom Dataset (Kaggle)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|</a:t>
            </a:r>
            <a:r>
              <a:rPr lang="en-US" sz="1150" i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link-dataset1</a:t>
            </a:r>
            <a:r>
              <a:rPr lang="en-US" sz="1150" i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Access: Public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is a binary vector of 377 symptoms (0 = absent, 1 = present) with a disease label.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220,000 records across 361 disease classes, designed for structured classification tasks.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training: class_weight='balanced' applied in LightGBM to handle class imbalance.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into train/test sets — stored as processed/train.csv and processed/test.csv.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Synthetically generated — symptom-disease patterns may not fully match real clinical distributions.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1481328"/>
            <a:ext cx="31546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49961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220,000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03720" y="149961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2157984"/>
            <a:ext cx="31546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17627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903720" y="217627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2834640"/>
            <a:ext cx="31546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852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03720" y="285292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23560" y="3511296"/>
            <a:ext cx="31546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5295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85.75%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903720" y="352958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4187952"/>
            <a:ext cx="31546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2062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95.97%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903720" y="42062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 — Text-Based Clinical Dataset (Columbia University KB)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link-dataset2</a:t>
            </a: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Wang et al., AMIA 2008 (PMCID: PMC2656103)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real patient discharge summaries at New York Presbyterian Hospital using MedLEE clinical NLP.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are UMLS-coded and statistically ranked by frequency of co-occurrence with each disease — clinically validated.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134 disease classes with 400+ unique symptoms from real hospital admission records.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generate 200 augmented natural-language text samples per disease, preserving clinical symptom distributions.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Fewer disease classes (134) compared to Dataset 1 — augmentation required to expand training size.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1481328"/>
            <a:ext cx="3154680" cy="566928"/>
          </a:xfrm>
          <a:prstGeom prst="rect">
            <a:avLst/>
          </a:prstGeom>
          <a:solidFill>
            <a:srgbClr val="EDFAF7"/>
          </a:solidFill>
          <a:ln w="12700">
            <a:solidFill>
              <a:srgbClr val="A7D7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49961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03720" y="149961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2157984"/>
            <a:ext cx="3154680" cy="566928"/>
          </a:xfrm>
          <a:prstGeom prst="rect">
            <a:avLst/>
          </a:prstGeom>
          <a:solidFill>
            <a:srgbClr val="EDFAF7"/>
          </a:solidFill>
          <a:ln w="12700">
            <a:solidFill>
              <a:srgbClr val="A7D7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17627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903720" y="217627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Symptoms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2834640"/>
            <a:ext cx="3154680" cy="566928"/>
          </a:xfrm>
          <a:prstGeom prst="rect">
            <a:avLst/>
          </a:prstGeom>
          <a:solidFill>
            <a:srgbClr val="EDFAF7"/>
          </a:solidFill>
          <a:ln w="12700">
            <a:solidFill>
              <a:srgbClr val="A7D7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852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03720" y="285292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23560" y="3511296"/>
            <a:ext cx="3154680" cy="566928"/>
          </a:xfrm>
          <a:prstGeom prst="rect">
            <a:avLst/>
          </a:prstGeom>
          <a:solidFill>
            <a:srgbClr val="EDFAF7"/>
          </a:solidFill>
          <a:ln w="12700">
            <a:solidFill>
              <a:srgbClr val="A7D7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5295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903720" y="352958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Symptoms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4187952"/>
            <a:ext cx="3154680" cy="566928"/>
          </a:xfrm>
          <a:prstGeom prst="rect">
            <a:avLst/>
          </a:prstGeom>
          <a:solidFill>
            <a:srgbClr val="EDFAF7"/>
          </a:solidFill>
          <a:ln w="12700">
            <a:solidFill>
              <a:srgbClr val="A7D7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2062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903720" y="42062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Samples/Disease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&amp; ADVISORY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advice.json knowledge base enriches every prediction with structured clinical guidance.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Contains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4206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Symptoms — key clinical indicators per disease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Advice — first-response guidance for patients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Solutions — OTC and self-care recommendations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Seek Help — red-flag criteria for urgent care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 — Mild / Moderate / Serious / Critical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Recommendation — appropriate medical specialty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Category — body system classification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37760" y="117043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JSON Entry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508760"/>
            <a:ext cx="3840480" cy="3429000"/>
          </a:xfrm>
          <a:prstGeom prst="rect">
            <a:avLst/>
          </a:prstGeom>
          <a:solidFill>
            <a:srgbClr val="F7F7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6002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"pneumonia":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"severity_level": "serious",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"symptom_category": "pulmonology",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"primary_symptoms":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"fever","cough",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"shortness of breath"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"immediate_advice":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"Monitor oxygen levels",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"Seek care if SpO2 &lt; 94%"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"quick_solutions":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"Prescribed antibiotics",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"Rest and hydration"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"when_to_seek_help":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"If breathing worsens",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"specialist": "Pulmonologist"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Input Processing &amp; Symptom Parsing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468880" cy="841248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User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symptoms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Streamlit UI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1417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468880" cy="841248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LLM Parser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(Groq/Llama)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symptoms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list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0" y="1417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468880" cy="841248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Symptom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vector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[0,1,0,1...]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04288"/>
            <a:ext cx="8321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free-text symptom description in natural language — no structured forms required.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Groq-hosted Llama 3.3-70B translates clinical jargon into simple symptoms and maps to symptom vocabulary.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rules prevent hallucination: symptoms only matched if explicitly mentioned in input text and doesn’t match if user denies some symptoms(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fever -&gt; fever as 0).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symptoms displayed to user as confirmation tags before prediction proceeds.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binary symptom vector (0/1 per symptom) passed to the LightGBM classifier.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Classification &amp; Response Generation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468880" cy="841248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LightGBM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vector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predictions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1417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468880" cy="841248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KB Lookup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(advice.json)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specialist,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advice, red flags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0" y="1417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468880" cy="841248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LLM Summary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(Groq/Llama)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response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disclaimer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04288"/>
            <a:ext cx="8321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symptom vector is fed into the trained LightGBM model — outputs probability scores for all disease classes, Top-3 returned with confidence percentages.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disease names looked up in advice.json with 3-level matching: exact → partial → default fallback, returning severity, specialist, advice, and red flags.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prompt is assembled from patient symptoms + predictions + KB content, then sent to Llama 3.3-70B for summary generation.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uses empathetic 'may indicate' language — never states definitive diagnosis. Mandatory medical disclaimer appended to every response.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Top-1: 85.75%  |  Top-3: 95.97%  |  Top-5: 98.12%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200400"/>
            <a:ext cx="2743200" cy="2103120"/>
          </a:xfrm>
          <a:prstGeom prst="ellipse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D6E4F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Diagnosis is a complete end-to-end AI pipeline: LLM parsing → ML classification → KB lookup → LLM summarization.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hospital discharge data (Columbia University KB), overcoming synthetic-data limitations of prior work.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enforced: mandatory disclaimers, severity-gated advice, and empathetic non-diagnostic language in every response.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 of 85.75% and Top-3 of 95.97% across 361 disease classes demonstrate strong classification performance.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allows each component to be independently evaluated, replaced, or upgraded.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0" cy="3931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243584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Bio_ClinicalBERT on augmented Columbia text dataset for transformer-based classification.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ensemble combining LightGBM + BioBERT predictions for improved accuracy and robustness.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augmentation to 200+ samples/disease with clinically realistic noise patterns.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symptom parser to support Hindi and regional Indian languages.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medical professionals to clinically validate prediction quality on real patient cases.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Gupta, A., et al. (2025). Digital Diagnostics: The Potential of LLMs in Recognizing Symptoms of Common Illnesses. AI, MDPI.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X., et al. (2008). Automatic ICD-9 Coding Using Discharge Summaries. AMIA Annual Symposium. PMCID: PMC2656103.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1109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Ke, G., et al. (2017). LightGBM: A Highly Efficient Gradient Boosting Decision Tree. NeurIPS.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32304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J., et al. (2020). BioBERT: A Pre-trained Biomedical Language Representation Model. Bioinformatics, Oxford.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53512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Alsentzer, E., et al. (2019). Publicly Available Clinical BERT Embeddings. Clinical NLP Workshop, NAACL.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Touvron, H., et al. (2023). Llama 2: Open Foundation and Fine-Tuned Chat Models. Meta AI Research. arXiv:2307.09288.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9592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University DBMI — Disease-Symptom Knowledge Base. New York Presbyterian Hospital.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link to page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53128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1713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Disease-Symptom Structured Dataset — 220K samples, 377 binary features, 361 classes.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dataset link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82880"/>
            <a:ext cx="2926080" cy="2103120"/>
          </a:xfrm>
          <a:prstGeom prst="ellipse">
            <a:avLst/>
          </a:prstGeom>
          <a:solidFill>
            <a:srgbClr val="D6E4F0">
              <a:alpha val="65000"/>
            </a:srgbClr>
          </a:solidFill>
          <a:ln w="12700">
            <a:solidFill>
              <a:srgbClr val="D6E4F0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566160"/>
            <a:ext cx="2560320" cy="1828800"/>
          </a:xfrm>
          <a:prstGeom prst="ellipse">
            <a:avLst/>
          </a:prstGeom>
          <a:solidFill>
            <a:srgbClr val="F5F0EB">
              <a:alpha val="75000"/>
            </a:srgbClr>
          </a:solidFill>
          <a:ln w="12700">
            <a:solidFill>
              <a:srgbClr val="F5F0EB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1468</Words>
  <Application>Microsoft Office PowerPoint</Application>
  <PresentationFormat>On-screen Show (16:9)</PresentationFormat>
  <Paragraphs>189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 INDIA</cp:lastModifiedBy>
  <cp:revision>4</cp:revision>
  <dcterms:created xsi:type="dcterms:W3CDTF">2026-03-09T20:17:53Z</dcterms:created>
  <dcterms:modified xsi:type="dcterms:W3CDTF">2026-03-10T07:10:33Z</dcterms:modified>
</cp:coreProperties>
</file>