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SVM (RBF)</c:v>
                </c:pt>
                <c:pt idx="1">
                  <c:v>Random Forest</c:v>
                </c:pt>
                <c:pt idx="2">
                  <c:v>LightGBM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78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9-4D70-8DE2-5AAE5F68FF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Top-3 Accuracy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SVM (RBF)</c:v>
                </c:pt>
                <c:pt idx="1">
                  <c:v>Random Forest</c:v>
                </c:pt>
                <c:pt idx="2">
                  <c:v>LightGBM (Ours)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94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C9-4D70-8DE2-5AAE5F68FF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56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63355">
              <a:alpha val="60000"/>
            </a:srgbClr>
          </a:solidFill>
          <a:ln w="12700">
            <a:solidFill>
              <a:srgbClr val="1633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Diagnosis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Symptom Analyzer Using ML &amp; Large Language 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786384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Milind Penurkar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Godara (BT23CSA007)  |  Dayanand Swami (BT23CSA016)  |  Yashwant Chauhan (BT23CSA042)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|  IIIT Nagpur  |  Jan –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832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25296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27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1636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(Part 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29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2039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(Part 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32304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323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346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36976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/ Flow Diagram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639312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393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" y="3648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041648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416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&amp; Symptom Parser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443984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4439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8952" y="4453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822960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8229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48072" y="832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Overall Performance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1225296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122529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48072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09160" y="1627632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627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48072" y="1636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Frontend UI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2029968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029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48072" y="2039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Chatbot Interface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2432304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4323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4807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709160" y="2834640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28346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48072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 — Symptom Parsing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09160" y="3236976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48072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 — Disease Prediction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09160" y="3639312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6393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48072" y="3648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09160" y="4041648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40416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48072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09160" y="4443984"/>
            <a:ext cx="365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44439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48072" y="4453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lack timely access to healthcare, especially in rural areas.
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estimates a global shortage of 18 million healthcare workers.
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symptom checkers use rigid decision trees — they fail with natural language descriptions.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Diagnosis?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644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AI triage assistant named HealthPilot.
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free-text symptom descriptions — no dropdowns.
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LangChain conversational agent with a LightGBM classifier.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77724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Shortage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02352" y="15179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18M+ provider deficit globally; rural areas disproportionately affected.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5798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Advances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02352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make natural conversation possible — best of both worlds when combined with ML.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980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02352" y="32369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screening tool can help people decide when urgent care is needed.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87705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2352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non-urgent cases, relieving pressure on crowded hospitals.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SCOPE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disconnect between how patients describe their symptoms and obtaining an accurate disease identification — particularly when healthcare access is limited. Traditional checkers are too rigid, don't understand context, and give generic advice. Pure LLM approaches are expensive, non-deterministic, and hard to audit.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in Current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symptom dropdowns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free-text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584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contextual reasoning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986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only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389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331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33172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7797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natural language input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semantic parsing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3584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for fast classification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986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for advice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4389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auditable 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331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33172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7797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patients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remote communities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5844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services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3986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Under-staffed rural hospitals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4389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individuals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PART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96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Shafi Abdullah et al. (2025)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13385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Disease-Symptom Dataset for AI Diagnostics  |  Medical Informatics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40817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structured disease-symptom dataset using binary encoding.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709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medical literature and hospital records.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Emphasized importance of standardized, multilingual healthcare datasets.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313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Dataset quality is critical for AI-based diagnosis.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809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et al. (2025)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21868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Diagnostics: LLMs in Recognizing Symptoms  |  AI &amp; Medicine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GPT-4, GPT-4o, Gemini, o1 Preview, and GPT-3 on symptom-based disease diagnosis.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794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showed the best overall accuracy for illness identification.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excelled in high-risk scenarios requiring careful reasoning.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43982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precision, recall, and F1-score as evaluation metrics.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single existing system combines LLM-based parsing, fast ML classification, and a clinical knowledge base in one auditable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PART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96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et al. (2024)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13385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Classification of Diseases Through Language Model Analysis of Symptoms  |  Scientific Reports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40817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MCN-BERT + BiLSTM achieved 99.58% accuracy on symptom-based disease classification.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709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contextualized embeddings for better symptom-disease relationship modeling.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used for hyperparameter optimization to improve generalization.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313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transformer-based models outperform traditional ML on NLP-based medical tasks.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809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 et al. (2019) &amp; Lee et al. (2020)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21868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and BioBERT: Foundation Models for Biomedical NLP  |  NAACL / Bioinformatics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introduced deep bidirectional transformers for language understanding.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794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fine-tuned on biomedical corpora for medical text mining tasks.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form the foundation for modern LLM-based symptom parsing approaches.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43982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uses Llama-3.3-70b — a successor to these foundational models.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Hybrid LightGBM + LLM architecture outperforms pure-LLM approaches in speed, determinism, and top-1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92024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2024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777240"/>
            <a:ext cx="192024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777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Columbia University's Disease-Symptom Knowledge Base (Government clinical dataset).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contained 377 distinct symptom labels across 50+ disease categories.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clinical records — not synthetically generated.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feature engineering reduced 377 → 84 clinically unambiguous symptom labels.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disease received a unique consistent label for balanced training.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487168"/>
          <a:ext cx="393192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00600" y="39502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preserved equally in both splits to ensure fair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804672"/>
            <a:ext cx="804672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841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9344"/>
            <a:ext cx="80467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Groq  •  Llama-3.3-70B  •  ConversationBufferMemory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267712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14016"/>
            <a:ext cx="80467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TOOL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Parser (LLM Call)  •  84-dim Binary Vector Builder  •  get_diagnosis() 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72384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18688"/>
            <a:ext cx="8046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255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Classifier  •  500 Decision Trees  •  Softmax → Top-3 Predictions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877056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KNOWLEDGE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3342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LightGBM Model  •  advice.json Knowledge Base  •  50 Disease Records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cleanly separates UI, conversational AI, ML inference, and knowledge retrieval — enabling independent evaluation and replacement of each layer.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— FLOW DIAGRAM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060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symptoms in natural language via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709928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144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6060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7190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determines user intent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709928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91440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26060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7190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symptoms → calls get_diagnosis()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18488" y="2514600"/>
            <a:ext cx="0" cy="53035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18488" y="3044952"/>
            <a:ext cx="572414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3044952"/>
            <a:ext cx="0" cy="40233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83464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2606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34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Parsing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6393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→ JSON symptom list → 84-dim binary vector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3630168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83464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834640"/>
            <a:ext cx="26060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834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Inference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6393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predicts disease probabilities (&lt;5ms)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630168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834640"/>
            <a:ext cx="26060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2834640"/>
            <a:ext cx="26060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834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363931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diseases with confidence + advice + specialist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— LIGHTGBM CLASSIFIER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top-1, 99% top-3 across 50 diseases.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under 5ms per prediction — real-time capable.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decision trees leaf-wise (not depth-wise) for better accuracy with less data.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alternatives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SVM (RBF) and Random Forest (500 trees) on both metrics.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95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LLMs, produces identical results for identical inputs — auditable.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 footprint; serialized model loads instantly.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777240"/>
            <a:ext cx="429768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25272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84-dimensional binary symptom vector
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decision trees in sequence
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50 disease classes → probability distribution
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disease predictions with confidence scores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4297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vs. Baselines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355848"/>
          <a:ext cx="3931920" cy="1417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&amp; SYMPTOM PARSER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+ Groq-hosted Llama-3.3-70b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configures it as a compassionate, clinically-informed assistant.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ConversationBufferMemory retains the full conversation history across turns.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609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get_diagnosis() registered as a LangChain tool with a docstring specifying when to call it.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autonomously when sufficient symptoms have been collected.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13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empathetic, plain-English summaries after diagnosis.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4297680" cy="41605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Parser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2070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LLM call using Llama-3.3-70b-versatile via Groq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9144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15087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natural-language symptom text from user.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084832"/>
            <a:ext cx="9144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84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20848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maps text to controlled vocabulary of 84 symptom labels.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660904"/>
            <a:ext cx="9144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60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266090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list of matched symptom labels.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236976"/>
            <a:ext cx="9144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36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32369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84-dimensional binary vector constructed (1 = present, 0 = absent).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813048"/>
            <a:ext cx="9144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13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381304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classifier for fast, deterministic prediction.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ADVISORY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(advice.json) enriches every prediction with structured clinical guidance for 50 diseases.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80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Disease Name + UMLS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medical coding for interoperability.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94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Primary Symptoms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indicators associated with the disease.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Immediate Advice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First-response guidance patients should act on now.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502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233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Quick Solutions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3159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and self-care recommendations for mild cases.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070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280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When to Seek Help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criteria indicating urgent or emergency care.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1214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194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Severity Classification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4871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/ Moderate / Serious / Critical rating.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Specialist Recommendation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401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medical specialty to consult.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4773168"/>
            <a:ext cx="42062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7731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Local JSON file — no external API needed; fast O(1) lookup by disease key.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OVERALL MODEL PERFORMANCE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01168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777240"/>
            <a:ext cx="201168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777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87168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777240"/>
            <a:ext cx="201168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777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00016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12864" y="777240"/>
            <a:ext cx="201168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7772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12864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06624"/>
          <a:ext cx="3657600" cy="210312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617720" y="2240280"/>
            <a:ext cx="4297680" cy="26974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top-1 accuracy across 50 disease categories is a strong result for symptom-based triage.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00600" y="3310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top-3 accuracy means the correct diagnosis appears in the top 3 in virtually every case.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00600" y="38770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Sub-5ms inference makes real-time deployment practical without GPU infrastructure.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00600" y="44439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of 0.859 confirms balanced performance even on less-common disease classes.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 (TOP 30 DISEASES)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below shows model predictions vs. true labels on the test set. A strong diagonal indicates correct predictions.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[Confusion Matrix — Figure 4.1]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Figure 4.1 from report)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1143000"/>
            <a:ext cx="315468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234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62763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88366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diagonal pattern confirms most predictions are correct.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4048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Bronchitis vs. Asthma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66090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confusion due to shared overlapping symptoms — clinically expected.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318211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Variants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4381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confusion between Hepatitis B &amp; C — consistent with medical literature.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39593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21538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diseases show slightly higher error — addressed by top-3 output.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7CE5F0-4339-A870-6C45-00042323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44" y="1111649"/>
            <a:ext cx="5441256" cy="40318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FRONTEND INTERFACE (HEALTHPILOT)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Input 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4.2)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Results Page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4.3)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UI: Patient enters age, gender, symptom duration, and free-text symptoms. Quick-add buttons available for common symptoms.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4846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Page: Top-3 diseases with confidence %, immediate advice, quick solutions, and specialist recommendation.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05C6A5-94E5-BD1E-39B8-DF277898E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4062550" cy="38319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5ABBF-AB58-C099-42D0-C18C886DB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04088"/>
            <a:ext cx="4310743" cy="39462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AI DOCTOR CHATBOT INTERFACE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772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Screenshot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(Figure 4.4)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777240"/>
            <a:ext cx="4709160" cy="40233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868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29844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618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5179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symptoms freely — no structured form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379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939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Llama-3.3-70b via Groq; responds in under 2 seconds.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45059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140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Diagnosis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700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autonomously triggers diagnosis when sufficient symptoms collected.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302666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990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Disclaimer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246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 a mandatory 'not a substitute for a doctor' notice.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360273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566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822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serious conditions like fractures, directs user to call 112 immediately.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417880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1422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3982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full session context for multi-turn symptom discussions.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DE94688-E340-5FD0-B998-F6E2EC809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3248478" cy="42780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 — DISEASE PREDICTION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804672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804672"/>
            <a:ext cx="297180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8961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12984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wins on both metrics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35040" y="153619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top-1 and 99% top-3 — the only model to clear 99% top-3.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35040" y="204825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weakest overall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35040" y="228600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top-1; high-dimensional binary vectors don't suit SVM well.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279806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competitive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35040" y="3035808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top-1, 94% top-3 — solid but outpaced by boosting.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354787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advantage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0" y="3785616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inference &lt;5ms; SVM and RF both slower on 84-dim input.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 — SYMPTOM PARSING (PRECISION / RECALL / F1)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3774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llama-3.1-8b-instant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llama-3.3-70b-versatile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Llama-4-Scout-17B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gpt-oss-safeguard-20b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2918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llama-3.3-70b-versatile achieves the best F1 (0.9498) for symptom parsing — selected as the system's primary parser.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3703320"/>
            <a:ext cx="41148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Parsing Accuracy Matters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09651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parsing is the first step — errors propagate to the classifier. High F1 ensures the 84-dim binary vector correctly reflects what the user described.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17720" y="370332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Llama-4-Scout — Lower Recall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40965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newer architecture, Llama-4-Scout shows lower recall (0.8144) vs. 70b. Smaller model scale — not architecture — determines symptom extraction quality.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 — DISEASE PREDICTION ACCURACY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331721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Hybrid (Ours)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llama-3.1-8b-instant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llama-3.3-70b-versatile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Llama-4-Scout-17B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gpt-oss-safeguard-20b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2461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hybrid LightGBM matches llama-3.3-70b on top-1 (84%) but achieves 3% higher top-3 accuracy (99% vs 96%) — with far lower latency and deterministic output.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3675888"/>
            <a:ext cx="4206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7216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top-1, better top-3: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ties 70b on top-1 but leads on top-3 — critical for triage safety.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4334256"/>
            <a:ext cx="4206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3799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top-3 of all models: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means correct diagnosis appears in top 3 for virtually every patient.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3675888"/>
            <a:ext cx="4206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37216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&lt;5ms; LLMs: 500–2000ms per API call. No API costs at inference time.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4334256"/>
            <a:ext cx="4206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43799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produces identical output for identical input — auditable for medical use.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Diagnosis demonstrates that a thoughtfully designed hybrid system outperforms both pure deep learning and pure LLM approaches for practical healthcare triage.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Strong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top-1 and 99% top-3 across 50 diseases — strong for a symptom-only triage tool.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1762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 Architecture Wins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NLU (LLM) from classification (LightGBM) delivers the best of both worlds.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63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Validated Comparisons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SVM &amp; Random Forest; matches/exceeds 5 LLM baselines on key metrics.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906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63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Social Impact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18M healthcare provider gap — especially relevant for rural India.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078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Safe by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389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 safety disclaimers; never claims to replace a doctor.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050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4078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Modular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389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(UI, agent, classifier, KB) can be independently updated or replaced.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 to Digital Diagnosis v2 and beyond: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435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Expand Disease Ontology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50 → 150+ diseases, including rare diseases to improve clinical applicability.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70432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435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 Support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responses into Hindi and regional Indian languages for nationwide accessibility.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03120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762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Speech Recognition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054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Whisper (OpenAI) speech-to-text module for voice-based symptom input.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03120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762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Urgency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054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numerical urgency score to improve triage recommendation precision.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35808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EHR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43814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existing Electronic Health Records to contextualize diagnosis with patient history.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3580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35808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Clinical Trial 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43814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system recommendations to physician assessments via prospective clinical study.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96849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968496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41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3708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lightweight mobile app for offline-first rural usage with low data requirements.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6849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968496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41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Improved Symptom Parser Recall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3708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smaller model specifically for symptom extraction to boost recall above current 93%.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Hassan, E., Abd El-Hafeez, T., &amp; Shams, M. Y. (2024). Optimizing classification of diseases through language model analysis of symptoms. Scientific Reports, 14, 1507.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Devlin, J., Chang, M. W., Lee, K., &amp; Toutanova, K. (2019). BERT: Pre-training of deep bidirectional transformers. Proceedings of NAACL-HLT 2019, 4171–4186.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30552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128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Lee, J., et al. (2020). BioBERT: A pre-trained biomedical language representation model. Bioinformatics, 36(4), 1234–1240.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1693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Ke, G., et al. (2017). LightGBM: A highly efficient gradient boosting decision tree. NeurIPS 30, 3146–3154.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538728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2102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Chase, H. (2022). LangChain: Building applications with LLMs through composability. GitHub.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242816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32511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Vaswani, A., et al. (2017). Attention is all you need. NeurIPS 30, 5998–6008.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946904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0467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Gupta et al. (2025). Digital Diagnostics: The Potential of LLMs in Recognizing Symptoms. AI &amp; Medicine.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426464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5087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Hammoud, M., et al. (2024). Evaluating the diagnostic performance of symptom checkers. JMIR AI, 3, e46875.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130552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128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Koleck, T. A., et al. (2019). NLP of symptoms documented in free-text EHR narratives. JAMIA, 26(4), 364–379.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91693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Columbia University DBMI — Disease Symptom Knowledge Base. people.dbmi.columbia.edu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538728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2102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Groq API Documentation. console.groq.com/docs/overview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4242816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32511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Streamlit Documentation. docs.streamlit.io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946904"/>
            <a:ext cx="42062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4A7C">
              <a:alpha val="50000"/>
            </a:srgbClr>
          </a:solidFill>
          <a:ln w="12700">
            <a:solidFill>
              <a:srgbClr val="1E4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63355">
              <a:alpha val="50000"/>
            </a:srgbClr>
          </a:solidFill>
          <a:ln w="12700">
            <a:solidFill>
              <a:srgbClr val="16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4572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2778</Words>
  <Application>Microsoft Office PowerPoint</Application>
  <PresentationFormat>On-screen Show (16:9)</PresentationFormat>
  <Paragraphs>438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Diagnosis</dc:title>
  <dc:subject>PptxGenJS Presentation</dc:subject>
  <dc:creator>IIIT Nagpur</dc:creator>
  <cp:lastModifiedBy>HP INDIA</cp:lastModifiedBy>
  <cp:revision>3</cp:revision>
  <dcterms:created xsi:type="dcterms:W3CDTF">2026-05-15T08:32:30Z</dcterms:created>
  <dcterms:modified xsi:type="dcterms:W3CDTF">2026-05-15T10:02:08Z</dcterms:modified>
</cp:coreProperties>
</file>